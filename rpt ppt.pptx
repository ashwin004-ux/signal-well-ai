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7" r:id="rId9"/>
    <p:sldId id="278" r:id="rId10"/>
    <p:sldId id="268" r:id="rId11"/>
    <p:sldId id="269" r:id="rId12"/>
    <p:sldId id="280" r:id="rId13"/>
    <p:sldId id="281" r:id="rId14"/>
    <p:sldId id="279" r:id="rId15"/>
    <p:sldId id="272" r:id="rId16"/>
    <p:sldId id="273" r:id="rId17"/>
    <p:sldId id="275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B8041-3817-4F59-AD8B-DE9D5DA4C38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C8158-4B9C-4B61-B24C-EC16A4D45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243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C8158-4B9C-4B61-B24C-EC16A4D4563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976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57C7-1ABD-22BC-2735-6B6F41814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62C9B-1500-12A9-0516-993986535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82AB7-555F-9E0F-2E53-6A2AA532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73ED-CA3E-4E36-A5EB-91202A0B9F08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80C0D-1385-636C-B873-DAF213ED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328B9-B1A6-0C1E-CD88-55130932E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50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7D05-D569-F27A-0F09-A5F2502F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C721C-048B-C524-F501-570901360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DE483-4865-4966-319A-D931DC38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7691-07BF-493C-83B8-00DDE0D645D7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16E9B-A4AB-69FB-6885-ACE05F02C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25C1F-08CD-8975-5055-D1FC4208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826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045AE-0C41-FBC6-6A7B-2B9BC63C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05F9B-77D1-D888-5B52-25806A4A6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092A9-E2AB-6514-3257-D96A26FCF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DCEC4-4337-4AB6-A7CC-C46F7E56B17F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C9C82-A990-06FC-F3E0-5A0AB3B7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39DE0-B88F-8A75-B48E-D72D5557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09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23363-1517-C676-71C7-C1140FAA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B8434-9F38-3E7E-2B1A-B855994FC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CD3-4025-CC8E-42AD-9B2500579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3BEF9-6F52-82E3-1468-47A53117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D3E7-5605-4EAF-B595-BDBFD4E5D376}" type="datetime1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1FCAA-88E2-450D-A804-AFE4D39D2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60C6B-531B-7E3C-F667-5570A30B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297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D6BD-38F2-301A-4EAF-F5DB80F9A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CE9EC-2AC9-73A5-5E6B-902857617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4EBCB-8827-99CF-ED02-47D0873B8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23CF57-EA58-1569-FF46-389C1962B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012665-2552-2B0C-C978-B907C1928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51692-670A-730A-AEB6-81AB80E9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A3C4-1FF1-42A2-99BD-FCA499EF2FCD}" type="datetime1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F1E302-095A-1E88-38D5-836C2D37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C2CFE0-85F5-5DE9-8C3D-7F185E9D4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730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19AB3-259B-BEDD-BBCB-FED1BBD69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AA013-6B57-868D-7868-E2556DCBE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A21-C397-4D10-94D1-8F49F9C7F339}" type="datetime1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7665E0-0147-82E6-FD1B-1F2E98E7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88A61-DCF2-81F4-0263-D769ABF7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44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C4C144-3602-8C88-9D01-4E8991A9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E28-7A79-45D1-A600-1A0D8A683E63}" type="datetime1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D6D17B-17E4-B6FF-C4BC-47FF94DE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A1A35-823B-EEEF-33C3-3DE227C5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63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93C3-07EC-88BD-947A-64B8AA8A1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615CE-BCC0-3507-5E91-56098EB0C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6C8BC-EF54-22DB-3AED-11C1D1217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585C7-D470-F786-BEA4-B437BFEEB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ED72-D60F-4540-8B63-91B0376E508A}" type="datetime1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A92C9-C96F-B523-8221-ADE096999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860A9-C358-6E03-3B13-409730FA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633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1CC4-2281-C73C-81AC-459D068CE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3CE7AA-B124-01D2-8BCC-A38085056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37958-6C7D-0CEC-9CC3-120AF58D6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4D23D-0F48-7A6D-8641-93BDA9492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4B56-0180-4ACF-94B3-F6B1451EF11B}" type="datetime1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06A48-2D21-0A49-1D4F-EE736501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36D1E-F88D-85CB-46D1-8C55382D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70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D9CA-93ED-2E5B-4037-D2945887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A586C-6EF8-1F2B-89B3-F95F101E9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CB0E8-0B29-BE59-5B22-AEC9D61F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BB26-F55C-4696-8515-1F67E48B026D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5E944-BBDF-65E9-380E-D5ECB7288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579F-3C51-0BD8-9B5E-6608F73B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17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8D9B5-33F3-2B95-E9F8-C8A5B8BE7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75976-E645-6D1C-B612-8B9767B7C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B88B6-14BE-4E1C-5D54-A2ED3B9B0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D705E-8A23-4426-BF83-CAF0DC67B5A0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AC205-B125-D59E-1427-E517B146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06E40-A46E-A803-3E7D-3BCB9981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2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C7A61-FD8B-3C8D-D2BE-1CF8D97A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A970A-DC71-20BF-B9A2-997C0C063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C678F-4AB6-3BB2-028B-DE8AE9242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C27B3-D014-4320-BE56-65301268B7B3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0B05E-13E1-41EC-4E78-E729901B2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97437-2E82-B4CB-508A-98F434E7C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97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48C0-4270-4271-844F-81F54C88E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596" y="966100"/>
            <a:ext cx="8670011" cy="181588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4000" b="1" dirty="0" smtClean="0">
                <a:latin typeface="+mn-lt"/>
                <a:ea typeface="Segoe UI Emoji" panose="020B0502040204020203" pitchFamily="34" charset="0"/>
                <a:cs typeface="Times New Roman" panose="02020603050405020304" pitchFamily="18" charset="0"/>
              </a:rPr>
              <a:t>Research Productivity Tools</a:t>
            </a:r>
            <a:r>
              <a:rPr lang="en-IN" sz="4000" b="1" dirty="0" smtClean="0">
                <a:latin typeface="+mn-lt"/>
                <a:ea typeface="Segoe UI Emoj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latin typeface="+mn-lt"/>
                <a:ea typeface="Segoe UI Emoji" panose="020B0502040204020203" pitchFamily="34" charset="0"/>
                <a:cs typeface="Times New Roman" panose="02020603050405020304" pitchFamily="18" charset="0"/>
              </a:rPr>
              <a:t>(ADA23IN101)</a:t>
            </a:r>
            <a:br>
              <a:rPr lang="en-IN" sz="4000" b="1" dirty="0">
                <a:latin typeface="+mn-lt"/>
                <a:ea typeface="Segoe UI Emoji" panose="020B0502040204020203" pitchFamily="34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+mn-lt"/>
                <a:ea typeface="Segoe UI Emoji" panose="020B0502040204020203" pitchFamily="34" charset="0"/>
                <a:cs typeface="Times New Roman" panose="02020603050405020304" pitchFamily="18" charset="0"/>
              </a:rPr>
              <a:t>FINAL REVIEW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8CD36A-18A2-D444-958A-AC67159E7E16}"/>
              </a:ext>
            </a:extLst>
          </p:cNvPr>
          <p:cNvSpPr txBox="1"/>
          <p:nvPr/>
        </p:nvSpPr>
        <p:spPr>
          <a:xfrm>
            <a:off x="646357" y="4549384"/>
            <a:ext cx="105572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a typeface="Segoe UI Symbol" panose="020B0502040204020203" pitchFamily="34" charset="0"/>
                <a:cs typeface="Segoe UI" panose="020B0502040204020203" pitchFamily="34" charset="0"/>
              </a:rPr>
              <a:t>Presented By:</a:t>
            </a:r>
            <a:r>
              <a:rPr lang="en-IN" sz="2800" dirty="0">
                <a:ea typeface="Segoe UI Symbol" panose="020B0502040204020203" pitchFamily="34" charset="0"/>
                <a:cs typeface="Segoe UI" panose="020B0502040204020203" pitchFamily="34" charset="0"/>
              </a:rPr>
              <a:t>   1. </a:t>
            </a:r>
            <a:r>
              <a:rPr lang="en-IN" sz="2800" dirty="0" err="1" smtClean="0">
                <a:ea typeface="Segoe UI Symbol" panose="020B0502040204020203" pitchFamily="34" charset="0"/>
                <a:cs typeface="Segoe UI" panose="020B0502040204020203" pitchFamily="34" charset="0"/>
              </a:rPr>
              <a:t>Ashwin</a:t>
            </a:r>
            <a:r>
              <a:rPr lang="en-IN" sz="2800" dirty="0" smtClean="0">
                <a:ea typeface="Segoe UI Symbol" panose="020B0502040204020203" pitchFamily="34" charset="0"/>
                <a:cs typeface="Segoe UI" panose="020B0502040204020203" pitchFamily="34" charset="0"/>
              </a:rPr>
              <a:t> A</a:t>
            </a:r>
            <a:r>
              <a:rPr lang="en-IN" sz="2800" dirty="0" smtClean="0">
                <a:ea typeface="Segoe UI Symbol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IN" sz="2800" dirty="0" smtClean="0">
                <a:ea typeface="Segoe UI Symbol" panose="020B0502040204020203" pitchFamily="34" charset="0"/>
                <a:cs typeface="Segoe UI" panose="020B0502040204020203" pitchFamily="34" charset="0"/>
              </a:rPr>
              <a:t>E0324097</a:t>
            </a:r>
            <a:r>
              <a:rPr lang="en-IN" sz="2800" dirty="0" smtClean="0">
                <a:ea typeface="Segoe UI Symbol" panose="020B0502040204020203" pitchFamily="34" charset="0"/>
                <a:cs typeface="Segoe UI" panose="020B0502040204020203" pitchFamily="34" charset="0"/>
              </a:rPr>
              <a:t>)</a:t>
            </a:r>
            <a:endParaRPr lang="en-IN" sz="2800" dirty="0">
              <a:ea typeface="Segoe UI Symbol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2800" dirty="0">
                <a:ea typeface="Segoe UI Symbol" panose="020B0502040204020203" pitchFamily="34" charset="0"/>
                <a:cs typeface="Segoe UI" panose="020B0502040204020203" pitchFamily="34" charset="0"/>
              </a:rPr>
              <a:t>		      2. </a:t>
            </a:r>
            <a:r>
              <a:rPr lang="en-IN" sz="2800" dirty="0" err="1" smtClean="0">
                <a:ea typeface="Segoe UI Symbol" panose="020B0502040204020203" pitchFamily="34" charset="0"/>
                <a:cs typeface="Segoe UI" panose="020B0502040204020203" pitchFamily="34" charset="0"/>
              </a:rPr>
              <a:t>Nikilesh</a:t>
            </a:r>
            <a:r>
              <a:rPr lang="en-IN" sz="2800" dirty="0" smtClean="0">
                <a:ea typeface="Segoe UI Symbol" panose="020B0502040204020203" pitchFamily="34" charset="0"/>
                <a:cs typeface="Segoe UI" panose="020B0502040204020203" pitchFamily="34" charset="0"/>
              </a:rPr>
              <a:t> J R</a:t>
            </a:r>
            <a:r>
              <a:rPr lang="en-IN" sz="2800" dirty="0" smtClean="0">
                <a:ea typeface="Segoe UI Symbol" panose="020B0502040204020203" pitchFamily="34" charset="0"/>
                <a:cs typeface="Segoe UI" panose="020B0502040204020203" pitchFamily="34" charset="0"/>
              </a:rPr>
              <a:t>(E0324098)</a:t>
            </a:r>
            <a:endParaRPr lang="en-IN" sz="2800" dirty="0">
              <a:ea typeface="Segoe UI Symbol" panose="020B0502040204020203" pitchFamily="34" charset="0"/>
              <a:cs typeface="Segoe UI" panose="020B0502040204020203" pitchFamily="34" charset="0"/>
            </a:endParaRPr>
          </a:p>
          <a:p>
            <a:endParaRPr lang="en-IN" sz="2800" dirty="0">
              <a:ea typeface="Segoe UI Symbol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2800" b="1" dirty="0">
                <a:ea typeface="Segoe UI Symbol" panose="020B0502040204020203" pitchFamily="34" charset="0"/>
                <a:cs typeface="Segoe UI" panose="020B0502040204020203" pitchFamily="34" charset="0"/>
              </a:rPr>
              <a:t>Guided By:</a:t>
            </a:r>
            <a:r>
              <a:rPr lang="en-IN" sz="2800" dirty="0">
                <a:ea typeface="Segoe UI Symbol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IN" sz="2800" dirty="0" err="1" smtClean="0">
                <a:ea typeface="Segoe UI Symbol" panose="020B0502040204020203" pitchFamily="34" charset="0"/>
                <a:cs typeface="Segoe UI" panose="020B0502040204020203" pitchFamily="34" charset="0"/>
              </a:rPr>
              <a:t>Dr.Deena</a:t>
            </a:r>
            <a:r>
              <a:rPr lang="en-IN" sz="2800" dirty="0" smtClean="0">
                <a:ea typeface="Segoe UI Symbol" panose="020B0502040204020203" pitchFamily="34" charset="0"/>
                <a:cs typeface="Segoe UI" panose="020B0502040204020203" pitchFamily="34" charset="0"/>
              </a:rPr>
              <a:t> S</a:t>
            </a:r>
            <a:endParaRPr lang="en-IN" sz="2800" dirty="0"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53757A-8DCB-294C-9D5C-6DB4A8E16D8C}"/>
              </a:ext>
            </a:extLst>
          </p:cNvPr>
          <p:cNvSpPr txBox="1"/>
          <p:nvPr/>
        </p:nvSpPr>
        <p:spPr>
          <a:xfrm>
            <a:off x="646356" y="3861872"/>
            <a:ext cx="114449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ea typeface="Segoe UI Symbol" panose="020B0502040204020203" pitchFamily="34" charset="0"/>
                <a:cs typeface="Segoe UI" panose="020B0502040204020203" pitchFamily="34" charset="0"/>
              </a:rPr>
              <a:t>Project Title</a:t>
            </a:r>
            <a:r>
              <a:rPr lang="en-IN" sz="2800" b="1" dirty="0" smtClean="0">
                <a:ea typeface="Segoe UI Symbol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800" b="1" dirty="0" err="1">
                <a:ea typeface="Segoe UI Symbol" panose="020B0502040204020203" pitchFamily="34" charset="0"/>
                <a:cs typeface="Segoe UI" panose="020B0502040204020203" pitchFamily="34" charset="0"/>
              </a:rPr>
              <a:t>SignalWell</a:t>
            </a:r>
            <a:r>
              <a:rPr lang="en-US" sz="2800" b="1" dirty="0">
                <a:ea typeface="Segoe UI Symbol" panose="020B0502040204020203" pitchFamily="34" charset="0"/>
                <a:cs typeface="Segoe UI" panose="020B0502040204020203" pitchFamily="34" charset="0"/>
              </a:rPr>
              <a:t> AI — Digital Wellbeing Tracking and Research Demo</a:t>
            </a:r>
            <a:endParaRPr lang="en-US" sz="2800" b="1" dirty="0"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AA7D0E-FA95-714C-B80E-D60C6DF68441}"/>
              </a:ext>
            </a:extLst>
          </p:cNvPr>
          <p:cNvSpPr txBox="1"/>
          <p:nvPr/>
        </p:nvSpPr>
        <p:spPr>
          <a:xfrm>
            <a:off x="646357" y="3174360"/>
            <a:ext cx="85952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ea typeface="Segoe UI Emoji" panose="020B0502040204020203" pitchFamily="34" charset="0"/>
                <a:cs typeface="Segoe UI" panose="020B0502040204020203" pitchFamily="34" charset="0"/>
              </a:rPr>
              <a:t>Project Type / Domain: </a:t>
            </a:r>
            <a:r>
              <a:rPr lang="en-IN" sz="2800" dirty="0">
                <a:ea typeface="Segoe UI Emoji" panose="020B0502040204020203" pitchFamily="34" charset="0"/>
                <a:cs typeface="Segoe UI" panose="020B0502040204020203" pitchFamily="34" charset="0"/>
              </a:rPr>
              <a:t>Internal / Machine Learning</a:t>
            </a:r>
            <a:endParaRPr lang="en-US" sz="2800" b="1" dirty="0">
              <a:ea typeface="Segoe UI Emoj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9A9510-5648-445E-1EBE-FB0409059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286" y="142472"/>
            <a:ext cx="4942114" cy="70052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9A721-D4A1-1A66-C833-3EAF26B8A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90978-40C5-4CB1-B6F1-54AF311FFA85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C7BEA-8E7A-F49B-7304-9C9F47973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943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51137-E653-64F7-9793-4BE0D0308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6CC63-EAC3-97F8-897E-2AA571D03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27914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Introduction (Background Research)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Problem statement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Literature Survey (Min. 4 Research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cs typeface="Segoe UI" panose="020B0502040204020203" pitchFamily="34" charset="0"/>
              </a:rPr>
              <a:t>   Papers)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Objective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Workflow Diagram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Methodology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Tools and Techniques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9F47B7-CD44-F191-4D26-1F04C76ED92D}"/>
              </a:ext>
            </a:extLst>
          </p:cNvPr>
          <p:cNvSpPr txBox="1">
            <a:spLocks/>
          </p:cNvSpPr>
          <p:nvPr/>
        </p:nvSpPr>
        <p:spPr>
          <a:xfrm>
            <a:off x="6466114" y="1787299"/>
            <a:ext cx="56279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cs typeface="Segoe UI" panose="020B0502040204020203" pitchFamily="34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A906B0-7E00-104A-E40A-2EA00920EBCE}"/>
              </a:ext>
            </a:extLst>
          </p:cNvPr>
          <p:cNvSpPr txBox="1">
            <a:spLocks/>
          </p:cNvSpPr>
          <p:nvPr/>
        </p:nvSpPr>
        <p:spPr>
          <a:xfrm>
            <a:off x="6466114" y="1825625"/>
            <a:ext cx="5170715" cy="536211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IN" sz="2400" dirty="0">
                <a:cs typeface="Segoe UI" panose="020B0502040204020203" pitchFamily="34" charset="0"/>
              </a:rPr>
              <a:t>Implementation (Dataset description/ environment setup)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cs typeface="Segoe UI" panose="020B0502040204020203" pitchFamily="34" charset="0"/>
              </a:rPr>
              <a:t>Result Analysis (Graphs, Output Screenshots)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Timeline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Conclusion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Future scope 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References (Min. 10 References)</a:t>
            </a:r>
          </a:p>
          <a:p>
            <a:pPr algn="just">
              <a:lnSpc>
                <a:spcPct val="100000"/>
              </a:lnSpc>
            </a:pPr>
            <a:endParaRPr lang="en-IN" sz="24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CFCBEC0-D582-208F-CF0F-F1F77D6E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1CC0E-8537-4F96-9045-5D1C7B66F6A3}" type="datetime1">
              <a:rPr lang="en-IN" smtClean="0"/>
              <a:t>22-10-2026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54C0C-4651-5047-1F22-59DBD775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609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6088-C5B7-6801-68DF-2C4D18B0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08DFD-FACA-0EFE-EBD2-ABE2321EF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Need for Balance:</a:t>
            </a:r>
            <a:r>
              <a:rPr lang="en-US" dirty="0"/>
              <a:t> People spend a lot of time online, making it important to balance daily internet use with good sleep and mental health.</a:t>
            </a:r>
          </a:p>
          <a:p>
            <a:r>
              <a:rPr lang="en-US" b="1" dirty="0"/>
              <a:t>What is </a:t>
            </a:r>
            <a:r>
              <a:rPr lang="en-US" b="1" dirty="0" err="1"/>
              <a:t>SignalWell</a:t>
            </a:r>
            <a:r>
              <a:rPr lang="en-US" b="1" dirty="0"/>
              <a:t> AI?:</a:t>
            </a:r>
            <a:r>
              <a:rPr lang="en-US" dirty="0"/>
              <a:t> It is a web app that tracks browser usage and lets users record their sleep, mood, and daily stress levels.</a:t>
            </a:r>
          </a:p>
          <a:p>
            <a:r>
              <a:rPr lang="en-US" b="1" dirty="0"/>
              <a:t>Two Distinct Modes:</a:t>
            </a:r>
            <a:r>
              <a:rPr lang="en-US" dirty="0"/>
              <a:t> The app has a live version for real users and a separate testing mode that uses fake (synthetic) data for safe research.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1A394-FF9D-1161-AFC5-CF4D8FB3D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1528-6881-453E-9696-D4A46595F4C0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4E2DA-1C29-7ADA-1F19-E7931786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152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A36B-5937-927A-67AB-9018548B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93F49-849F-609E-39FD-D408E0B62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Main Problem Statement:</a:t>
            </a:r>
            <a:r>
              <a:rPr lang="en-US" dirty="0" smtClean="0"/>
              <a:t> </a:t>
            </a:r>
            <a:r>
              <a:rPr lang="en-US" dirty="0"/>
              <a:t>Most screen time apps only tell </a:t>
            </a:r>
            <a:r>
              <a:rPr lang="en-US" dirty="0" smtClean="0"/>
              <a:t>the user </a:t>
            </a:r>
            <a:r>
              <a:rPr lang="en-US" dirty="0"/>
              <a:t>how many minutes </a:t>
            </a:r>
            <a:r>
              <a:rPr lang="en-US" dirty="0" smtClean="0"/>
              <a:t>they </a:t>
            </a:r>
            <a:r>
              <a:rPr lang="en-US" dirty="0"/>
              <a:t>spent on a device. They do not track how that screen time affects </a:t>
            </a:r>
            <a:r>
              <a:rPr lang="en-US" dirty="0" smtClean="0"/>
              <a:t>their </a:t>
            </a:r>
            <a:r>
              <a:rPr lang="en-US" dirty="0"/>
              <a:t>mood or sleep.</a:t>
            </a:r>
          </a:p>
          <a:p>
            <a:r>
              <a:rPr lang="en-US" b="1" dirty="0" smtClean="0"/>
              <a:t>Our Proposed </a:t>
            </a:r>
            <a:r>
              <a:rPr lang="en-US" b="1" dirty="0"/>
              <a:t>Solution:</a:t>
            </a:r>
            <a:r>
              <a:rPr lang="en-US" dirty="0"/>
              <a:t> </a:t>
            </a:r>
            <a:r>
              <a:rPr lang="en-US" dirty="0" err="1"/>
              <a:t>SignalWell</a:t>
            </a:r>
            <a:r>
              <a:rPr lang="en-US" dirty="0"/>
              <a:t> AI allows users to track both digital habits and physical well-being in one place. It also includes a safe, private sandbox mode to test smart data models without risking real user data.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4148-A742-A25A-805D-48A2B604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E848-C34D-46EE-AFEE-B494FA258BB3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28AD5-068E-6E79-1258-C60375FB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78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8F4DA-495C-D1AC-49C8-0532328E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078" y="0"/>
            <a:ext cx="10515600" cy="912832"/>
          </a:xfrm>
        </p:spPr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0F39239-3D32-258A-E9D0-65EA0B6ECF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0108144"/>
              </p:ext>
            </p:extLst>
          </p:nvPr>
        </p:nvGraphicFramePr>
        <p:xfrm>
          <a:off x="179615" y="744748"/>
          <a:ext cx="11781064" cy="6020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1566">
                  <a:extLst>
                    <a:ext uri="{9D8B030D-6E8A-4147-A177-3AD203B41FA5}">
                      <a16:colId xmlns:a16="http://schemas.microsoft.com/office/drawing/2014/main" val="2373999984"/>
                    </a:ext>
                  </a:extLst>
                </a:gridCol>
                <a:gridCol w="2091566">
                  <a:extLst>
                    <a:ext uri="{9D8B030D-6E8A-4147-A177-3AD203B41FA5}">
                      <a16:colId xmlns:a16="http://schemas.microsoft.com/office/drawing/2014/main" val="2226070341"/>
                    </a:ext>
                  </a:extLst>
                </a:gridCol>
                <a:gridCol w="1987902">
                  <a:extLst>
                    <a:ext uri="{9D8B030D-6E8A-4147-A177-3AD203B41FA5}">
                      <a16:colId xmlns:a16="http://schemas.microsoft.com/office/drawing/2014/main" val="4204565767"/>
                    </a:ext>
                  </a:extLst>
                </a:gridCol>
                <a:gridCol w="3245385">
                  <a:extLst>
                    <a:ext uri="{9D8B030D-6E8A-4147-A177-3AD203B41FA5}">
                      <a16:colId xmlns:a16="http://schemas.microsoft.com/office/drawing/2014/main" val="1660913277"/>
                    </a:ext>
                  </a:extLst>
                </a:gridCol>
                <a:gridCol w="2364645">
                  <a:extLst>
                    <a:ext uri="{9D8B030D-6E8A-4147-A177-3AD203B41FA5}">
                      <a16:colId xmlns:a16="http://schemas.microsoft.com/office/drawing/2014/main" val="3767167159"/>
                    </a:ext>
                  </a:extLst>
                </a:gridCol>
              </a:tblGrid>
              <a:tr h="10603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Research paper </a:t>
                      </a:r>
                      <a:r>
                        <a:rPr lang="en-US" sz="1800" b="1" dirty="0"/>
                        <a:t>title and year</a:t>
                      </a:r>
                      <a:endParaRPr lang="en-US" sz="1800" b="1" dirty="0">
                        <a:latin typeface="Segoe UI" panose="020B0502040204020203" pitchFamily="34" charset="0"/>
                        <a:ea typeface="Segoe UI Emoj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 name and publication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Methodology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r>
                        <a:rPr lang="en-IN" dirty="0"/>
                        <a:t>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781056"/>
                  </a:ext>
                </a:extLst>
              </a:tr>
              <a:tr h="1394202">
                <a:tc>
                  <a:txBody>
                    <a:bodyPr/>
                    <a:lstStyle/>
                    <a:p>
                      <a:r>
                        <a:rPr lang="en-US" dirty="0" smtClean="0"/>
                        <a:t>Digital phenotyping: Technology for a new science of behavior (2017)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T. R. </a:t>
                      </a:r>
                      <a:r>
                        <a:rPr lang="en-IN" dirty="0" err="1" smtClean="0"/>
                        <a:t>Insel</a:t>
                      </a:r>
                      <a:r>
                        <a:rPr lang="en-IN" dirty="0" smtClean="0"/>
                        <a:t/>
                      </a:r>
                      <a:br>
                        <a:rPr lang="en-IN" dirty="0" smtClean="0"/>
                      </a:br>
                      <a:r>
                        <a:rPr lang="en-IN" sz="1800" b="0" i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JAMA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Mapping human daily patterns using mobile frames.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Provides continuous </a:t>
                      </a:r>
                      <a:r>
                        <a:rPr lang="en-IN" dirty="0" err="1" smtClean="0"/>
                        <a:t>behavioral</a:t>
                      </a:r>
                      <a:r>
                        <a:rPr lang="en-IN" dirty="0" smtClean="0"/>
                        <a:t> tracking.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Relies on population averages instead of personal baselines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217281"/>
                  </a:ext>
                </a:extLst>
              </a:tr>
              <a:tr h="1137924">
                <a:tc>
                  <a:txBody>
                    <a:bodyPr/>
                    <a:lstStyle/>
                    <a:p>
                      <a:r>
                        <a:rPr lang="en-US" dirty="0" smtClean="0"/>
                        <a:t>Opportunities and challenges in digital phenotyping data (2021)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J.-P. </a:t>
                      </a:r>
                      <a:r>
                        <a:rPr lang="en-IN" dirty="0" err="1" smtClean="0"/>
                        <a:t>Onnela</a:t>
                      </a:r>
                      <a:r>
                        <a:rPr lang="en-IN" dirty="0" smtClean="0"/>
                        <a:t/>
                      </a:r>
                      <a:br>
                        <a:rPr lang="en-IN" dirty="0" smtClean="0"/>
                      </a:br>
                      <a:r>
                        <a:rPr lang="en-IN" sz="1800" b="0" i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Neuropsychopharmacology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Analyzing continuous user digital activity data.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Gathers real-time daily routine habits automatically.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Struggles with deep user variation and data differences.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204580"/>
                  </a:ext>
                </a:extLst>
              </a:tr>
              <a:tr h="1137924">
                <a:tc>
                  <a:txBody>
                    <a:bodyPr/>
                    <a:lstStyle/>
                    <a:p>
                      <a:r>
                        <a:rPr lang="en-US" dirty="0" smtClean="0"/>
                        <a:t>Digital Phenotyping for Stress, Anxiety, and Mild Depression (2024)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A. Choi et al.</a:t>
                      </a:r>
                      <a:br>
                        <a:rPr lang="en-US" dirty="0" smtClean="0"/>
                      </a:br>
                      <a:r>
                        <a:rPr lang="en-US" sz="1800" b="0" i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JMIR </a:t>
                      </a:r>
                      <a:r>
                        <a:rPr lang="en-US" sz="1800" b="0" i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mHealth</a:t>
                      </a:r>
                      <a:r>
                        <a:rPr lang="en-US" sz="1800" b="0" i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800" b="0" i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uHealth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Tracking user interactions to monitor symptom shifts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Eliminates personal memory recall errors from surveys.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Lacks runtime model file validation registries.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803807"/>
                  </a:ext>
                </a:extLst>
              </a:tr>
              <a:tr h="1137924">
                <a:tc>
                  <a:txBody>
                    <a:bodyPr/>
                    <a:lstStyle/>
                    <a:p>
                      <a:r>
                        <a:rPr lang="en-US" dirty="0" smtClean="0"/>
                        <a:t>Passive Sensing for Mental Health Monitoring Using ML (2025)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S. Shen et al.</a:t>
                      </a:r>
                      <a:br>
                        <a:rPr lang="da-DK" dirty="0" smtClean="0"/>
                      </a:br>
                      <a:r>
                        <a:rPr lang="da-DK" sz="1800" b="0" i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JMIR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Applying machine learning models to device sensor data.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Automatically monitors habits without disrupting routines.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 computational overhead; lacks database-level isolation.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94268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2DE4EF-897D-999D-9D4A-F2CC78909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48B0-4086-444B-A722-26789A071941}" type="datetime1">
              <a:rPr lang="en-IN" smtClean="0"/>
              <a:t>22-10-2026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4B59F-0073-1E3F-EEC5-3959B6EC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488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55355-C004-15AF-003F-4566047B2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+mn-lt"/>
              </a:rPr>
              <a:t>Objective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A2636-0577-44E3-7EBB-5EE3B276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FC35-FCD8-4FBB-A132-BDAA39EAB7FA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A39E5-DDB1-4167-7E8A-D7C788549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6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49036" y="800099"/>
            <a:ext cx="1129937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Main Goal:</a:t>
            </a:r>
            <a:r>
              <a:rPr lang="en-US" altLang="en-US" sz="2800" dirty="0"/>
              <a:t> Build </a:t>
            </a:r>
            <a:r>
              <a:rPr lang="en-US" altLang="en-US" sz="2800" b="1" dirty="0" err="1"/>
              <a:t>SignalWell</a:t>
            </a:r>
            <a:r>
              <a:rPr lang="en-US" altLang="en-US" sz="2800" dirty="0"/>
              <a:t> to help users track changes in </a:t>
            </a:r>
            <a:r>
              <a:rPr lang="en-US" altLang="en-US" sz="2800" dirty="0" smtClean="0"/>
              <a:t>their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/>
              <a:t> </a:t>
            </a:r>
            <a:r>
              <a:rPr lang="en-US" altLang="en-US" sz="2800" dirty="0"/>
              <a:t>digital habits and well-being.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Core Tasks:</a:t>
            </a:r>
            <a:endParaRPr lang="en-US" altLang="en-US" sz="2800" dirty="0"/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Habit Tracking:</a:t>
            </a:r>
            <a:r>
              <a:rPr lang="en-US" altLang="en-US" sz="2800" dirty="0"/>
              <a:t> Log screen time and website usage safely via a browser tool.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Personal Baseline:</a:t>
            </a:r>
            <a:r>
              <a:rPr lang="en-US" altLang="en-US" sz="2800" dirty="0"/>
              <a:t> Compare metrics against a user's own </a:t>
            </a:r>
            <a:r>
              <a:rPr lang="en-US" altLang="en-US" sz="2800" b="1" dirty="0"/>
              <a:t>7-day average</a:t>
            </a:r>
            <a:r>
              <a:rPr lang="en-US" altLang="en-US" sz="2800" dirty="0"/>
              <a:t>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Data Privacy:</a:t>
            </a:r>
            <a:r>
              <a:rPr lang="en-US" altLang="en-US" sz="2800" dirty="0"/>
              <a:t> Lock down data using database </a:t>
            </a:r>
            <a:r>
              <a:rPr lang="en-US" altLang="en-US" sz="2800" b="1" dirty="0"/>
              <a:t>Row Level Security (RLS)</a:t>
            </a:r>
            <a:r>
              <a:rPr lang="en-US" altLang="en-US" sz="2800" dirty="0"/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37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2C82A-9362-FEE1-0A9A-174D57457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22BB-20AC-9EFB-8A72-CF846AEE0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4176"/>
          </a:xfrm>
        </p:spPr>
        <p:txBody>
          <a:bodyPr/>
          <a:lstStyle/>
          <a:p>
            <a:r>
              <a:rPr lang="en-IN" dirty="0"/>
              <a:t>Workflow Diagram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129" y="1047239"/>
            <a:ext cx="5494564" cy="5136223"/>
          </a:xfr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0FAD30-3ED3-274D-B6F3-37EC48E41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1B11-92D1-443B-99F4-6E0C24959B5D}" type="datetime1">
              <a:rPr lang="en-IN" smtClean="0"/>
              <a:t>22-10-2026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8739-FBEE-6328-E7A8-19F788A74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7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310742" y="6183462"/>
            <a:ext cx="3196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 1. Overall Workflow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9847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B17B-8EB4-0936-CFD6-FDD313F15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FA5B1-580D-E7E5-C4CB-A9A209737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5E715-FBBD-45DF-91FB-5CC46E2C08C1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FD557-217B-E91D-B679-487CC2D4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8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91887" y="1624692"/>
            <a:ext cx="1125038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Data Integration:</a:t>
            </a:r>
            <a:r>
              <a:rPr lang="en-US" altLang="en-US" sz="2800" dirty="0"/>
              <a:t> Tracks screen time, website use, sleep duration, mood, stress, and anxiety.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Personalized Baseline:</a:t>
            </a:r>
            <a:r>
              <a:rPr lang="en-US" altLang="en-US" sz="2800" dirty="0"/>
              <a:t> Measures daily shifts against the user's past 7-day average using the </a:t>
            </a:r>
            <a:r>
              <a:rPr lang="en-US" altLang="en-US" sz="2800" dirty="0" smtClean="0"/>
              <a:t>equation: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sz="2800" dirty="0"/>
              <a:t>\(\Delta X_t = X_t - \mu_{t-1:t-7}\).</a:t>
            </a:r>
            <a:endParaRPr lang="en-US" altLang="en-US" sz="2800" dirty="0" smtClean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 smtClean="0"/>
              <a:t>Database </a:t>
            </a:r>
            <a:r>
              <a:rPr lang="en-US" altLang="en-US" sz="2800" b="1" dirty="0"/>
              <a:t>Isolation:</a:t>
            </a:r>
            <a:r>
              <a:rPr lang="en-US" altLang="en-US" sz="2800" dirty="0"/>
              <a:t> Applies Row Level Security directly to block cross-account data leaks (</a:t>
            </a:r>
            <a:r>
              <a:rPr lang="en-US" altLang="en-US" sz="2800" dirty="0" err="1">
                <a:cs typeface="Courier New" panose="02070309020205020404" pitchFamily="49" charset="0"/>
              </a:rPr>
              <a:t>auth.uid</a:t>
            </a:r>
            <a:r>
              <a:rPr lang="en-US" altLang="en-US" sz="2800" dirty="0">
                <a:cs typeface="Courier New" panose="02070309020205020404" pitchFamily="49" charset="0"/>
              </a:rPr>
              <a:t>() = </a:t>
            </a:r>
            <a:r>
              <a:rPr lang="en-US" altLang="en-US" sz="2800" dirty="0" err="1">
                <a:cs typeface="Courier New" panose="02070309020205020404" pitchFamily="49" charset="0"/>
              </a:rPr>
              <a:t>user_id</a:t>
            </a:r>
            <a:r>
              <a:rPr lang="en-US" altLang="en-US" sz="2800" dirty="0"/>
              <a:t>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Runtime Verification:</a:t>
            </a:r>
            <a:r>
              <a:rPr lang="en-US" altLang="en-US" sz="2800" dirty="0"/>
              <a:t> Implements server middleware to block inference requests if the model registry path is missing.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45835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EDE4-41F2-0DB2-11CA-1AF756932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5EB6-DA44-574F-9005-B0A65517B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Techniques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925F4-02D6-B891-EE99-706D22E3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5E715-FBBD-45DF-91FB-5CC46E2C08C1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4C399-5C54-C6E3-CD96-05AD45B2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9</a:t>
            </a:fld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838200" y="1458496"/>
            <a:ext cx="1083672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 smtClean="0"/>
              <a:t>Frontend </a:t>
            </a:r>
            <a:r>
              <a:rPr lang="en-US" altLang="en-US" sz="2800" b="1" dirty="0"/>
              <a:t>Web App:</a:t>
            </a:r>
            <a:r>
              <a:rPr lang="en-US" altLang="en-US" sz="2800" dirty="0"/>
              <a:t> Next.js 14, React 18, </a:t>
            </a:r>
            <a:r>
              <a:rPr lang="en-US" altLang="en-US" sz="2800" dirty="0" err="1"/>
              <a:t>TypeScript</a:t>
            </a:r>
            <a:r>
              <a:rPr lang="en-US" altLang="en-US" sz="2800" dirty="0"/>
              <a:t>, and Tailwind CSS.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Data Visualization: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Recharts</a:t>
            </a:r>
            <a:r>
              <a:rPr lang="en-US" altLang="en-US" sz="2800" dirty="0"/>
              <a:t> library for continuous behavioral trend graphs.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Database &amp; Security: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Supabase</a:t>
            </a:r>
            <a:r>
              <a:rPr lang="en-US" altLang="en-US" sz="2800" dirty="0"/>
              <a:t> platform using a PostgreSQL engine with Row Level Security.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Browser Automation:</a:t>
            </a:r>
            <a:r>
              <a:rPr lang="en-US" altLang="en-US" sz="2800" dirty="0"/>
              <a:t> Native JavaScript Service Workers built on Chrome Manifest V3.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Backend Processing:</a:t>
            </a:r>
            <a:r>
              <a:rPr lang="en-US" altLang="en-US" sz="2800" dirty="0"/>
              <a:t> Python </a:t>
            </a:r>
            <a:r>
              <a:rPr lang="en-US" altLang="en-US" sz="2800" dirty="0" err="1"/>
              <a:t>FastAPI</a:t>
            </a:r>
            <a:r>
              <a:rPr lang="en-US" altLang="en-US" sz="2800" dirty="0"/>
              <a:t> framework run via a </a:t>
            </a:r>
            <a:r>
              <a:rPr lang="en-US" altLang="en-US" sz="2800" dirty="0" err="1"/>
              <a:t>Uvicorn</a:t>
            </a:r>
            <a:r>
              <a:rPr lang="en-US" altLang="en-US" sz="2800" dirty="0"/>
              <a:t> local server.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Machine Learning Tools:</a:t>
            </a:r>
            <a:r>
              <a:rPr lang="en-US" altLang="en-US" sz="2800" dirty="0"/>
              <a:t> Pandas data processing, </a:t>
            </a:r>
            <a:r>
              <a:rPr lang="en-US" altLang="en-US" sz="2800" dirty="0" err="1"/>
              <a:t>Scikit</a:t>
            </a:r>
            <a:r>
              <a:rPr lang="en-US" altLang="en-US" sz="2800" dirty="0"/>
              <a:t>-learn models, and </a:t>
            </a:r>
            <a:r>
              <a:rPr lang="en-US" altLang="en-US" sz="2800" dirty="0" err="1"/>
              <a:t>XGBoost</a:t>
            </a:r>
            <a:r>
              <a:rPr lang="en-US" altLang="en-US" sz="2800" dirty="0"/>
              <a:t> structures.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42475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95BF-392B-3CDE-3C29-53BC2D318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DE7C4-DC78-09F5-F3F1-4D1A57C26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2AF49-BBC1-412E-861B-CF739ADC132D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6A706-2FEC-9CD6-36AC-361E711A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10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67443" y="1445142"/>
            <a:ext cx="1126671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 smtClean="0"/>
              <a:t>Core </a:t>
            </a:r>
            <a:r>
              <a:rPr lang="en-US" altLang="en-US" sz="2800" b="1" dirty="0"/>
              <a:t>Monitored Attributes:</a:t>
            </a:r>
            <a:r>
              <a:rPr lang="en-US" altLang="en-US" sz="2800" dirty="0"/>
              <a:t> Tracks Sleep Duration, Screen Time, Movement Level, Subjective Mood, Stress Response, and Anxiety Self-Assessment.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Dataset Characteristics:</a:t>
            </a:r>
            <a:r>
              <a:rPr lang="en-US" altLang="en-US" sz="2800" dirty="0"/>
              <a:t> Evaluated using a simulated research dataset containing 2,500 daily tracking records distributed across 120 user accounts.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Environment Setup:</a:t>
            </a:r>
            <a:r>
              <a:rPr lang="en-US" altLang="en-US" sz="2800" dirty="0"/>
              <a:t> Local deployment executing paths out of target user directory folders (</a:t>
            </a:r>
            <a:r>
              <a:rPr lang="en-US" altLang="en-US" sz="2800" dirty="0">
                <a:cs typeface="Courier New" panose="02070309020205020404" pitchFamily="49" charset="0"/>
              </a:rPr>
              <a:t>C:\Users\ASUS\Documents\signalwell-ai-2</a:t>
            </a:r>
            <a:r>
              <a:rPr lang="en-US" altLang="en-US" sz="2800" dirty="0"/>
              <a:t>) on local ports 3000 and 8000.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Validation Tools:</a:t>
            </a:r>
            <a:r>
              <a:rPr lang="en-US" altLang="en-US" sz="2800" dirty="0"/>
              <a:t> Codebase rules checked using </a:t>
            </a:r>
            <a:r>
              <a:rPr lang="en-US" altLang="en-US" sz="2800" dirty="0" err="1"/>
              <a:t>TypeScript</a:t>
            </a:r>
            <a:r>
              <a:rPr lang="en-US" altLang="en-US" sz="2800" dirty="0"/>
              <a:t> compilers, </a:t>
            </a:r>
            <a:r>
              <a:rPr lang="en-US" altLang="en-US" sz="2800" dirty="0" err="1"/>
              <a:t>Zod</a:t>
            </a:r>
            <a:r>
              <a:rPr lang="en-US" altLang="en-US" sz="2800" dirty="0"/>
              <a:t> schemas, </a:t>
            </a:r>
            <a:r>
              <a:rPr lang="en-US" altLang="en-US" sz="2800" dirty="0" err="1"/>
              <a:t>Pydantic</a:t>
            </a:r>
            <a:r>
              <a:rPr lang="en-US" altLang="en-US" sz="2800" dirty="0"/>
              <a:t> data layers, and the </a:t>
            </a:r>
            <a:r>
              <a:rPr lang="en-US" altLang="en-US" sz="2800" dirty="0" err="1">
                <a:cs typeface="Courier New" panose="02070309020205020404" pitchFamily="49" charset="0"/>
              </a:rPr>
              <a:t>pytest</a:t>
            </a:r>
            <a:r>
              <a:rPr lang="en-US" altLang="en-US" sz="2800" dirty="0"/>
              <a:t> testing library.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9769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119B-DEE5-5C0E-4C9D-AC105C1EA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Result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A3041-4C22-F024-C095-618A8E0A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94E4-0ECC-4B60-A4DE-02FBF1AC957B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99DBB-D07C-4AE2-EDC2-469D28AF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11</a:t>
            </a:fld>
            <a:endParaRPr lang="en-IN"/>
          </a:p>
        </p:txBody>
      </p:sp>
      <p:pic>
        <p:nvPicPr>
          <p:cNvPr id="6" name="Image 4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264" y="1534886"/>
            <a:ext cx="7064194" cy="34453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86200" y="5216979"/>
            <a:ext cx="3499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 Multi-signal visual trends grid</a:t>
            </a:r>
          </a:p>
        </p:txBody>
      </p:sp>
    </p:spTree>
    <p:extLst>
      <p:ext uri="{BB962C8B-B14F-4D97-AF65-F5344CB8AC3E}">
        <p14:creationId xmlns:p14="http://schemas.microsoft.com/office/powerpoint/2010/main" val="2439194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8041" y="5442091"/>
            <a:ext cx="10515600" cy="599480"/>
          </a:xfrm>
        </p:spPr>
        <p:txBody>
          <a:bodyPr>
            <a:normAutofit/>
          </a:bodyPr>
          <a:lstStyle/>
          <a:p>
            <a:pPr algn="just"/>
            <a:r>
              <a:rPr lang="en-US" sz="1600" dirty="0"/>
              <a:t>Fig 3. Opt-in Manifest V3 browser extension recording domain-level activity metrics with real-time cloud synchronization status.</a:t>
            </a:r>
            <a:endParaRPr lang="en-IN" sz="1600" dirty="0"/>
          </a:p>
          <a:p>
            <a:pPr algn="just"/>
            <a:endParaRPr lang="en-IN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7691-07BF-493C-83B8-00DDE0D645D7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12</a:t>
            </a:fld>
            <a:endParaRPr lang="en-IN"/>
          </a:p>
        </p:txBody>
      </p:sp>
      <p:pic>
        <p:nvPicPr>
          <p:cNvPr id="6" name="Image 4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694" y="1967593"/>
            <a:ext cx="5713504" cy="334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936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1943" y="5246234"/>
            <a:ext cx="10515600" cy="901246"/>
          </a:xfrm>
        </p:spPr>
        <p:txBody>
          <a:bodyPr>
            <a:normAutofit/>
          </a:bodyPr>
          <a:lstStyle/>
          <a:p>
            <a:r>
              <a:rPr lang="en-US" sz="1600" dirty="0"/>
              <a:t>Fig </a:t>
            </a:r>
            <a:r>
              <a:rPr lang="en-US" sz="1600" dirty="0" smtClean="0"/>
              <a:t>4. </a:t>
            </a:r>
            <a:r>
              <a:rPr lang="en-US" sz="1600" dirty="0"/>
              <a:t>Next.js workspace overview isolating active tracking metrics and user logs</a:t>
            </a:r>
            <a:endParaRPr lang="en-IN" sz="1600" dirty="0"/>
          </a:p>
          <a:p>
            <a:endParaRPr lang="en-IN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7691-07BF-493C-83B8-00DDE0D645D7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13</a:t>
            </a:fld>
            <a:endParaRPr lang="en-IN"/>
          </a:p>
        </p:txBody>
      </p:sp>
      <p:pic>
        <p:nvPicPr>
          <p:cNvPr id="6" name="Image 4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43" y="1159329"/>
            <a:ext cx="7048863" cy="387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88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6FE1C-9EA7-557C-DCCA-7B3E9B68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D53D2-9CF0-2487-E445-0DAABFC9A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Timeline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32560-07F0-E6AF-4C92-DDE4FD45D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94E4-0ECC-4B60-A4DE-02FBF1AC957B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F778A-AC29-4F65-1A53-045BD1B5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14</a:t>
            </a:fld>
            <a:endParaRPr lang="en-IN"/>
          </a:p>
        </p:txBody>
      </p:sp>
      <p:grpSp>
        <p:nvGrpSpPr>
          <p:cNvPr id="6" name="Google Shape;193;p29">
            <a:extLst>
              <a:ext uri="{FF2B5EF4-FFF2-40B4-BE49-F238E27FC236}">
                <a16:creationId xmlns:a16="http://schemas.microsoft.com/office/drawing/2014/main" id="{210942A0-D9FC-9CAF-B981-E05C4B6AC89A}"/>
              </a:ext>
            </a:extLst>
          </p:cNvPr>
          <p:cNvGrpSpPr/>
          <p:nvPr/>
        </p:nvGrpSpPr>
        <p:grpSpPr>
          <a:xfrm>
            <a:off x="827803" y="1648119"/>
            <a:ext cx="10525997" cy="4767308"/>
            <a:chOff x="0" y="0"/>
            <a:chExt cx="10525997" cy="4767308"/>
          </a:xfrm>
        </p:grpSpPr>
        <p:cxnSp>
          <p:nvCxnSpPr>
            <p:cNvPr id="7" name="Google Shape;194;p29">
              <a:extLst>
                <a:ext uri="{FF2B5EF4-FFF2-40B4-BE49-F238E27FC236}">
                  <a16:creationId xmlns:a16="http://schemas.microsoft.com/office/drawing/2014/main" id="{DDBA6E02-5E35-4E01-7F20-41E041141E5F}"/>
                </a:ext>
              </a:extLst>
            </p:cNvPr>
            <p:cNvCxnSpPr/>
            <p:nvPr/>
          </p:nvCxnSpPr>
          <p:spPr>
            <a:xfrm>
              <a:off x="0" y="0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8" name="Google Shape;195;p29">
              <a:extLst>
                <a:ext uri="{FF2B5EF4-FFF2-40B4-BE49-F238E27FC236}">
                  <a16:creationId xmlns:a16="http://schemas.microsoft.com/office/drawing/2014/main" id="{5C9A62B9-BC22-CD50-59E8-B2F9EFEBCA95}"/>
                </a:ext>
              </a:extLst>
            </p:cNvPr>
            <p:cNvSpPr/>
            <p:nvPr/>
          </p:nvSpPr>
          <p:spPr>
            <a:xfrm>
              <a:off x="0" y="0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96;p29">
              <a:extLst>
                <a:ext uri="{FF2B5EF4-FFF2-40B4-BE49-F238E27FC236}">
                  <a16:creationId xmlns:a16="http://schemas.microsoft.com/office/drawing/2014/main" id="{B470BE26-A7CD-7021-8800-33F17DB06D1D}"/>
                </a:ext>
              </a:extLst>
            </p:cNvPr>
            <p:cNvSpPr txBox="1"/>
            <p:nvPr/>
          </p:nvSpPr>
          <p:spPr>
            <a:xfrm>
              <a:off x="0" y="0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>
                <a:lnSpc>
                  <a:spcPct val="90000"/>
                </a:lnSpc>
                <a:buSzPts val="1800"/>
              </a:pP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06/05/25 - 13/05/25 (Duration – 8 days) </a:t>
              </a:r>
              <a:r>
                <a:rPr lang="en-IN" sz="1800" b="0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: </a:t>
              </a:r>
              <a:r>
                <a:rPr lang="en-US" sz="1800" dirty="0"/>
                <a:t>Initial project planning, research question setup, and database design.</a:t>
              </a:r>
              <a:endParaRPr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0" name="Google Shape;197;p29">
              <a:extLst>
                <a:ext uri="{FF2B5EF4-FFF2-40B4-BE49-F238E27FC236}">
                  <a16:creationId xmlns:a16="http://schemas.microsoft.com/office/drawing/2014/main" id="{3F5C4776-5B91-3C92-C466-CF00992CC8CF}"/>
                </a:ext>
              </a:extLst>
            </p:cNvPr>
            <p:cNvCxnSpPr/>
            <p:nvPr/>
          </p:nvCxnSpPr>
          <p:spPr>
            <a:xfrm>
              <a:off x="0" y="595913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11" name="Google Shape;198;p29">
              <a:extLst>
                <a:ext uri="{FF2B5EF4-FFF2-40B4-BE49-F238E27FC236}">
                  <a16:creationId xmlns:a16="http://schemas.microsoft.com/office/drawing/2014/main" id="{4E688344-5E1A-546A-8E66-6633C4C76426}"/>
                </a:ext>
              </a:extLst>
            </p:cNvPr>
            <p:cNvSpPr/>
            <p:nvPr/>
          </p:nvSpPr>
          <p:spPr>
            <a:xfrm>
              <a:off x="0" y="595913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99;p29">
              <a:extLst>
                <a:ext uri="{FF2B5EF4-FFF2-40B4-BE49-F238E27FC236}">
                  <a16:creationId xmlns:a16="http://schemas.microsoft.com/office/drawing/2014/main" id="{3BB3578E-E0E4-D6FF-DA65-42D1ADE6B67B}"/>
                </a:ext>
              </a:extLst>
            </p:cNvPr>
            <p:cNvSpPr txBox="1"/>
            <p:nvPr/>
          </p:nvSpPr>
          <p:spPr>
            <a:xfrm>
              <a:off x="0" y="595913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>
                <a:lnSpc>
                  <a:spcPct val="90000"/>
                </a:lnSpc>
                <a:buSzPts val="1800"/>
              </a:pP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14/05/25 - 20/05/25 (Duration –  </a:t>
              </a:r>
              <a:r>
                <a:rPr lang="en-IN" sz="1800" b="1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7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days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) </a:t>
              </a:r>
              <a:r>
                <a:rPr lang="en-IN" sz="1800" b="0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: </a:t>
              </a:r>
              <a:r>
                <a:rPr lang="en-US" sz="1800" dirty="0"/>
                <a:t>Created the opt-in Chrome Manifest V3 browser tracking tool.</a:t>
              </a:r>
              <a:r>
                <a:rPr lang="en-IN" sz="1800" b="0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</a:t>
              </a:r>
              <a:endParaRPr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3" name="Google Shape;200;p29">
              <a:extLst>
                <a:ext uri="{FF2B5EF4-FFF2-40B4-BE49-F238E27FC236}">
                  <a16:creationId xmlns:a16="http://schemas.microsoft.com/office/drawing/2014/main" id="{4172DCE9-FFEB-CF14-90BE-CD5E9C5D6DE0}"/>
                </a:ext>
              </a:extLst>
            </p:cNvPr>
            <p:cNvCxnSpPr/>
            <p:nvPr/>
          </p:nvCxnSpPr>
          <p:spPr>
            <a:xfrm>
              <a:off x="0" y="1191827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14" name="Google Shape;201;p29">
              <a:extLst>
                <a:ext uri="{FF2B5EF4-FFF2-40B4-BE49-F238E27FC236}">
                  <a16:creationId xmlns:a16="http://schemas.microsoft.com/office/drawing/2014/main" id="{2D11E86B-C88B-B723-6F9E-C5F084045AEC}"/>
                </a:ext>
              </a:extLst>
            </p:cNvPr>
            <p:cNvSpPr/>
            <p:nvPr/>
          </p:nvSpPr>
          <p:spPr>
            <a:xfrm>
              <a:off x="0" y="1191827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02;p29">
              <a:extLst>
                <a:ext uri="{FF2B5EF4-FFF2-40B4-BE49-F238E27FC236}">
                  <a16:creationId xmlns:a16="http://schemas.microsoft.com/office/drawing/2014/main" id="{A3CCF4B0-0FA4-85F9-206E-CE8DAE61D511}"/>
                </a:ext>
              </a:extLst>
            </p:cNvPr>
            <p:cNvSpPr txBox="1"/>
            <p:nvPr/>
          </p:nvSpPr>
          <p:spPr>
            <a:xfrm>
              <a:off x="0" y="1191827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>
                <a:lnSpc>
                  <a:spcPct val="90000"/>
                </a:lnSpc>
                <a:buSzPts val="1800"/>
              </a:pP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21/05/25 – 27/05/25 (Duration – 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7 days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) </a:t>
              </a:r>
              <a:r>
                <a:rPr lang="en-IN" sz="1800" b="0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:  </a:t>
              </a:r>
              <a:r>
                <a:rPr lang="en-US" sz="1800" dirty="0"/>
                <a:t>Configured </a:t>
              </a:r>
              <a:r>
                <a:rPr lang="en-US" sz="1800" dirty="0" err="1"/>
                <a:t>Supabase</a:t>
              </a:r>
              <a:r>
                <a:rPr lang="en-US" sz="1800" dirty="0"/>
                <a:t> login routes and Row Level Security privacy boundaries.</a:t>
              </a:r>
              <a:endParaRPr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6" name="Google Shape;203;p29">
              <a:extLst>
                <a:ext uri="{FF2B5EF4-FFF2-40B4-BE49-F238E27FC236}">
                  <a16:creationId xmlns:a16="http://schemas.microsoft.com/office/drawing/2014/main" id="{B48A0872-49BA-CB90-E321-035135535ED5}"/>
                </a:ext>
              </a:extLst>
            </p:cNvPr>
            <p:cNvCxnSpPr/>
            <p:nvPr/>
          </p:nvCxnSpPr>
          <p:spPr>
            <a:xfrm>
              <a:off x="0" y="1787740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17" name="Google Shape;204;p29">
              <a:extLst>
                <a:ext uri="{FF2B5EF4-FFF2-40B4-BE49-F238E27FC236}">
                  <a16:creationId xmlns:a16="http://schemas.microsoft.com/office/drawing/2014/main" id="{0028132D-EF49-9F41-043C-615B43E5594C}"/>
                </a:ext>
              </a:extLst>
            </p:cNvPr>
            <p:cNvSpPr/>
            <p:nvPr/>
          </p:nvSpPr>
          <p:spPr>
            <a:xfrm>
              <a:off x="0" y="1787740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05;p29">
              <a:extLst>
                <a:ext uri="{FF2B5EF4-FFF2-40B4-BE49-F238E27FC236}">
                  <a16:creationId xmlns:a16="http://schemas.microsoft.com/office/drawing/2014/main" id="{11E0F13F-9F67-8195-2DE2-DCEF352839DA}"/>
                </a:ext>
              </a:extLst>
            </p:cNvPr>
            <p:cNvSpPr txBox="1"/>
            <p:nvPr/>
          </p:nvSpPr>
          <p:spPr>
            <a:xfrm>
              <a:off x="0" y="1787740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>
                <a:lnSpc>
                  <a:spcPct val="90000"/>
                </a:lnSpc>
                <a:buSzPts val="1800"/>
              </a:pP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28/05/25 – 03/06/25 (Duration – 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7 days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) </a:t>
              </a:r>
              <a:r>
                <a:rPr lang="en-IN" sz="1800" b="0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: </a:t>
              </a:r>
              <a:r>
                <a:rPr lang="en-US" sz="1800" dirty="0"/>
                <a:t>Built the frontend user dashboard interfaces and added </a:t>
              </a:r>
              <a:r>
                <a:rPr lang="en-US" sz="1800" dirty="0" err="1"/>
                <a:t>Recharts</a:t>
              </a:r>
              <a:r>
                <a:rPr lang="en-US" sz="1800" dirty="0"/>
                <a:t> graphs.</a:t>
              </a:r>
              <a:endParaRPr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9" name="Google Shape;206;p29">
              <a:extLst>
                <a:ext uri="{FF2B5EF4-FFF2-40B4-BE49-F238E27FC236}">
                  <a16:creationId xmlns:a16="http://schemas.microsoft.com/office/drawing/2014/main" id="{33F42DD1-8FF8-C444-F04A-87CDBFB5AE10}"/>
                </a:ext>
              </a:extLst>
            </p:cNvPr>
            <p:cNvCxnSpPr/>
            <p:nvPr/>
          </p:nvCxnSpPr>
          <p:spPr>
            <a:xfrm>
              <a:off x="0" y="2383654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20" name="Google Shape;207;p29">
              <a:extLst>
                <a:ext uri="{FF2B5EF4-FFF2-40B4-BE49-F238E27FC236}">
                  <a16:creationId xmlns:a16="http://schemas.microsoft.com/office/drawing/2014/main" id="{2B064B70-DCDF-278F-0D7F-E06CC24A1F10}"/>
                </a:ext>
              </a:extLst>
            </p:cNvPr>
            <p:cNvSpPr/>
            <p:nvPr/>
          </p:nvSpPr>
          <p:spPr>
            <a:xfrm>
              <a:off x="0" y="2383654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08;p29">
              <a:extLst>
                <a:ext uri="{FF2B5EF4-FFF2-40B4-BE49-F238E27FC236}">
                  <a16:creationId xmlns:a16="http://schemas.microsoft.com/office/drawing/2014/main" id="{2C236F13-756B-26C9-BC4D-DE0519768EA2}"/>
                </a:ext>
              </a:extLst>
            </p:cNvPr>
            <p:cNvSpPr txBox="1"/>
            <p:nvPr/>
          </p:nvSpPr>
          <p:spPr>
            <a:xfrm>
              <a:off x="0" y="2383654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>
                <a:lnSpc>
                  <a:spcPct val="90000"/>
                </a:lnSpc>
                <a:buSzPts val="1800"/>
              </a:pP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04/06/25 – 10/06/25 (Duration – 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7 days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) </a:t>
              </a:r>
              <a:r>
                <a:rPr lang="en-IN" sz="1800" b="0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: </a:t>
              </a:r>
              <a:r>
                <a:rPr lang="en-US" sz="1800" dirty="0"/>
                <a:t>Coded the Python </a:t>
              </a:r>
              <a:r>
                <a:rPr lang="en-US" sz="1800" dirty="0" err="1"/>
                <a:t>FastAPI</a:t>
              </a:r>
              <a:r>
                <a:rPr lang="en-US" sz="1800" dirty="0"/>
                <a:t> background service and machine learning pipeline paths.</a:t>
              </a:r>
              <a:endParaRPr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22" name="Google Shape;209;p29">
              <a:extLst>
                <a:ext uri="{FF2B5EF4-FFF2-40B4-BE49-F238E27FC236}">
                  <a16:creationId xmlns:a16="http://schemas.microsoft.com/office/drawing/2014/main" id="{1F6C25D8-D42C-BFD3-4337-CCCB811EED3D}"/>
                </a:ext>
              </a:extLst>
            </p:cNvPr>
            <p:cNvCxnSpPr/>
            <p:nvPr/>
          </p:nvCxnSpPr>
          <p:spPr>
            <a:xfrm>
              <a:off x="0" y="2979568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23" name="Google Shape;210;p29">
              <a:extLst>
                <a:ext uri="{FF2B5EF4-FFF2-40B4-BE49-F238E27FC236}">
                  <a16:creationId xmlns:a16="http://schemas.microsoft.com/office/drawing/2014/main" id="{2255570C-A61C-811C-2219-60FFB84C150B}"/>
                </a:ext>
              </a:extLst>
            </p:cNvPr>
            <p:cNvSpPr/>
            <p:nvPr/>
          </p:nvSpPr>
          <p:spPr>
            <a:xfrm>
              <a:off x="0" y="2979568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11;p29">
              <a:extLst>
                <a:ext uri="{FF2B5EF4-FFF2-40B4-BE49-F238E27FC236}">
                  <a16:creationId xmlns:a16="http://schemas.microsoft.com/office/drawing/2014/main" id="{30F75E89-632C-6160-EA0A-B9DB5AC57BDF}"/>
                </a:ext>
              </a:extLst>
            </p:cNvPr>
            <p:cNvSpPr txBox="1"/>
            <p:nvPr/>
          </p:nvSpPr>
          <p:spPr>
            <a:xfrm>
              <a:off x="0" y="2979568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>
                <a:lnSpc>
                  <a:spcPct val="90000"/>
                </a:lnSpc>
                <a:buSzPts val="1800"/>
              </a:pP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11/06/25 – 17/06/25 (Duration – 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7 days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) </a:t>
              </a:r>
              <a:r>
                <a:rPr lang="en-IN" sz="1800" b="0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: </a:t>
              </a:r>
              <a:r>
                <a:rPr lang="en-US" sz="1800" dirty="0"/>
                <a:t>Structured the </a:t>
              </a:r>
              <a:r>
                <a:rPr lang="en-US" sz="1800" dirty="0" smtClean="0"/>
                <a:t>2 modes, </a:t>
              </a:r>
              <a:r>
                <a:rPr lang="en-US" sz="1800" dirty="0"/>
                <a:t>30-day versioned testing fixture data.</a:t>
              </a:r>
              <a:r>
                <a:rPr lang="en-IN" sz="1800" b="0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</a:t>
              </a:r>
              <a:endParaRPr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25" name="Google Shape;212;p29">
              <a:extLst>
                <a:ext uri="{FF2B5EF4-FFF2-40B4-BE49-F238E27FC236}">
                  <a16:creationId xmlns:a16="http://schemas.microsoft.com/office/drawing/2014/main" id="{8266FD12-F6CA-B8DD-8E1E-EC596BF7D5D3}"/>
                </a:ext>
              </a:extLst>
            </p:cNvPr>
            <p:cNvCxnSpPr/>
            <p:nvPr/>
          </p:nvCxnSpPr>
          <p:spPr>
            <a:xfrm>
              <a:off x="0" y="3575481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26" name="Google Shape;213;p29">
              <a:extLst>
                <a:ext uri="{FF2B5EF4-FFF2-40B4-BE49-F238E27FC236}">
                  <a16:creationId xmlns:a16="http://schemas.microsoft.com/office/drawing/2014/main" id="{AA46C05B-1D92-97BE-38A8-3A1F0D957057}"/>
                </a:ext>
              </a:extLst>
            </p:cNvPr>
            <p:cNvSpPr/>
            <p:nvPr/>
          </p:nvSpPr>
          <p:spPr>
            <a:xfrm>
              <a:off x="0" y="3575481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14;p29">
              <a:extLst>
                <a:ext uri="{FF2B5EF4-FFF2-40B4-BE49-F238E27FC236}">
                  <a16:creationId xmlns:a16="http://schemas.microsoft.com/office/drawing/2014/main" id="{E893FB19-E095-6D1F-DE0D-44F6E5D4D5C1}"/>
                </a:ext>
              </a:extLst>
            </p:cNvPr>
            <p:cNvSpPr txBox="1"/>
            <p:nvPr/>
          </p:nvSpPr>
          <p:spPr>
            <a:xfrm>
              <a:off x="0" y="3575481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>
                <a:lnSpc>
                  <a:spcPct val="90000"/>
                </a:lnSpc>
                <a:buSzPts val="1800"/>
              </a:pP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18/06/25 –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22/06/25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(Duration –  </a:t>
              </a:r>
              <a:r>
                <a:rPr lang="en-IN" sz="1800" b="1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5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days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) </a:t>
              </a:r>
              <a:r>
                <a:rPr lang="en-IN" sz="1800" b="0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: </a:t>
              </a:r>
              <a:r>
                <a:rPr lang="en-US" sz="1800" dirty="0"/>
                <a:t>Ran the </a:t>
              </a:r>
              <a:r>
                <a:rPr lang="en-US" sz="1800" dirty="0" smtClean="0"/>
                <a:t>automated </a:t>
              </a:r>
              <a:r>
                <a:rPr lang="en-US" sz="1800" dirty="0"/>
                <a:t>pipeline test cases and completed final project reviews.</a:t>
              </a:r>
              <a:endParaRPr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28" name="Google Shape;215;p29">
              <a:extLst>
                <a:ext uri="{FF2B5EF4-FFF2-40B4-BE49-F238E27FC236}">
                  <a16:creationId xmlns:a16="http://schemas.microsoft.com/office/drawing/2014/main" id="{6EAFA2ED-15C6-A590-5D00-9E633181C568}"/>
                </a:ext>
              </a:extLst>
            </p:cNvPr>
            <p:cNvCxnSpPr/>
            <p:nvPr/>
          </p:nvCxnSpPr>
          <p:spPr>
            <a:xfrm>
              <a:off x="0" y="4171395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29" name="Google Shape;216;p29">
              <a:extLst>
                <a:ext uri="{FF2B5EF4-FFF2-40B4-BE49-F238E27FC236}">
                  <a16:creationId xmlns:a16="http://schemas.microsoft.com/office/drawing/2014/main" id="{6E9F73D9-2598-0253-CBD9-0B94EB553263}"/>
                </a:ext>
              </a:extLst>
            </p:cNvPr>
            <p:cNvSpPr/>
            <p:nvPr/>
          </p:nvSpPr>
          <p:spPr>
            <a:xfrm>
              <a:off x="0" y="4171395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0538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74D0-33BA-3980-2926-9324274E0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666D2-C43C-3651-FC89-3B9CC87F4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Safe Architecture:</a:t>
            </a:r>
            <a:r>
              <a:rPr lang="en-US" dirty="0"/>
              <a:t> Decoupling the live database from a 30-day synthetic dataset enables secure ML testing without risking account contamination.</a:t>
            </a:r>
          </a:p>
          <a:p>
            <a:r>
              <a:rPr lang="en-US" b="1" dirty="0"/>
              <a:t>Verified Stability:</a:t>
            </a:r>
            <a:r>
              <a:rPr lang="en-US" dirty="0"/>
              <a:t> The dual-path setup successfully verified </a:t>
            </a:r>
            <a:r>
              <a:rPr lang="en-US" b="1" dirty="0"/>
              <a:t>18 automated backend test cases</a:t>
            </a:r>
            <a:r>
              <a:rPr lang="en-US" dirty="0"/>
              <a:t> under full model serialization loops.</a:t>
            </a:r>
          </a:p>
          <a:p>
            <a:r>
              <a:rPr lang="en-US" b="1" dirty="0"/>
              <a:t>Guaranteed Privacy:</a:t>
            </a:r>
            <a:r>
              <a:rPr lang="en-US" dirty="0"/>
              <a:t> The system proves that health tracking over browser logs must be sandboxed by strict </a:t>
            </a:r>
            <a:r>
              <a:rPr lang="en-US" b="1" dirty="0"/>
              <a:t>Row Level Security</a:t>
            </a:r>
            <a:r>
              <a:rPr lang="en-US" dirty="0"/>
              <a:t> to stop cross-account leaks.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E0E2D-CE6D-9030-48FB-7B54B56DE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20E4-330B-4F41-A257-F2D0F7DC9105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BF2D6-AF3E-B51F-C3A2-C773A3A4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679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FB46-B655-8F69-7413-DE3083CD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Segoe UI" panose="020B0502040204020203" pitchFamily="34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E1F2F-30E0-DD4D-5F85-3822259FE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559"/>
            <a:ext cx="10515600" cy="4695404"/>
          </a:xfrm>
        </p:spPr>
        <p:txBody>
          <a:bodyPr/>
          <a:lstStyle/>
          <a:p>
            <a:r>
              <a:rPr lang="en-US" b="1" dirty="0"/>
              <a:t>Cross-Browser Tracking:</a:t>
            </a:r>
            <a:r>
              <a:rPr lang="en-US" dirty="0"/>
              <a:t> Build and expand tracking agents to cover multiple cross-browser platforms.</a:t>
            </a:r>
          </a:p>
          <a:p>
            <a:r>
              <a:rPr lang="en-US" b="1" dirty="0"/>
              <a:t>System Optimization:</a:t>
            </a:r>
            <a:r>
              <a:rPr lang="en-US" dirty="0"/>
              <a:t> Implement a shared </a:t>
            </a:r>
            <a:r>
              <a:rPr lang="en-US" dirty="0" err="1"/>
              <a:t>Redis</a:t>
            </a:r>
            <a:r>
              <a:rPr lang="en-US" dirty="0"/>
              <a:t> architecture to handle production rate limiting effectively.</a:t>
            </a:r>
          </a:p>
          <a:p>
            <a:r>
              <a:rPr lang="en-US" b="1" dirty="0"/>
              <a:t>Compliance &amp; Validation:</a:t>
            </a:r>
            <a:r>
              <a:rPr lang="en-US" dirty="0"/>
              <a:t> Perform multi-jurisdictional compliance reviews and deeper learned model weight evaluations.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513B6-AC20-F806-6182-039814F5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5C0C-ED5F-4709-B635-1600829730A1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A4147-C223-D276-41C8-5625130B7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280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7C00-0497-D8DE-1CEE-D7D4CF63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  <a:cs typeface="Segoe UI" panose="020B0502040204020203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CE921-BD2A-E1C9-2682-F9CE27D11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35" y="1404257"/>
            <a:ext cx="11308466" cy="4865914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[1]</a:t>
            </a:r>
            <a:r>
              <a:rPr lang="en-IN" dirty="0"/>
              <a:t> T. R. </a:t>
            </a:r>
            <a:r>
              <a:rPr lang="en-IN" dirty="0" err="1"/>
              <a:t>Insel</a:t>
            </a:r>
            <a:r>
              <a:rPr lang="en-IN" dirty="0"/>
              <a:t>, “Digital phenotyping: Technology for a new science of </a:t>
            </a:r>
            <a:r>
              <a:rPr lang="en-IN" dirty="0" err="1"/>
              <a:t>behavior</a:t>
            </a:r>
            <a:r>
              <a:rPr lang="en-IN" dirty="0"/>
              <a:t>,” </a:t>
            </a:r>
            <a:r>
              <a:rPr lang="en-IN" i="1" dirty="0"/>
              <a:t>JAMA</a:t>
            </a:r>
            <a:r>
              <a:rPr lang="en-IN" dirty="0"/>
              <a:t>, vol. 318, no. 13, pp. 1215–1216, 2017.</a:t>
            </a:r>
          </a:p>
          <a:p>
            <a:r>
              <a:rPr lang="en-IN" b="1" dirty="0"/>
              <a:t>[2]</a:t>
            </a:r>
            <a:r>
              <a:rPr lang="en-IN" dirty="0"/>
              <a:t> J.-P. </a:t>
            </a:r>
            <a:r>
              <a:rPr lang="en-IN" dirty="0" err="1"/>
              <a:t>Onnela</a:t>
            </a:r>
            <a:r>
              <a:rPr lang="en-IN" dirty="0"/>
              <a:t>, “Opportunities and challenges in the collection and analysis of digital phenotyping data,” </a:t>
            </a:r>
            <a:r>
              <a:rPr lang="en-IN" i="1" dirty="0" err="1"/>
              <a:t>Neuropsychopharmacology</a:t>
            </a:r>
            <a:r>
              <a:rPr lang="en-IN" dirty="0"/>
              <a:t>, vol. 46, pp. 45–54, 2021.</a:t>
            </a:r>
          </a:p>
          <a:p>
            <a:r>
              <a:rPr lang="en-IN" b="1" dirty="0"/>
              <a:t>[3]</a:t>
            </a:r>
            <a:r>
              <a:rPr lang="en-IN" dirty="0"/>
              <a:t> A. Choi, A. </a:t>
            </a:r>
            <a:r>
              <a:rPr lang="en-IN" dirty="0" err="1"/>
              <a:t>Ooi</a:t>
            </a:r>
            <a:r>
              <a:rPr lang="en-IN" dirty="0"/>
              <a:t>, and D. </a:t>
            </a:r>
            <a:r>
              <a:rPr lang="en-IN" dirty="0" err="1"/>
              <a:t>Lottridge</a:t>
            </a:r>
            <a:r>
              <a:rPr lang="en-IN" dirty="0"/>
              <a:t>, “Digital Phenotyping for Stress, Anxiety, and Mild Depression: Systematic Literature Review,” </a:t>
            </a:r>
            <a:r>
              <a:rPr lang="en-IN" i="1" dirty="0"/>
              <a:t>JMIR </a:t>
            </a:r>
            <a:r>
              <a:rPr lang="en-IN" i="1" dirty="0" err="1"/>
              <a:t>mHealth</a:t>
            </a:r>
            <a:r>
              <a:rPr lang="en-IN" i="1" dirty="0"/>
              <a:t> and </a:t>
            </a:r>
            <a:r>
              <a:rPr lang="en-IN" i="1" dirty="0" err="1"/>
              <a:t>uHealth</a:t>
            </a:r>
            <a:r>
              <a:rPr lang="en-IN" dirty="0"/>
              <a:t>, vol. 12, e40689, 2024.</a:t>
            </a:r>
          </a:p>
          <a:p>
            <a:r>
              <a:rPr lang="en-IN" b="1" dirty="0"/>
              <a:t>[4]</a:t>
            </a:r>
            <a:r>
              <a:rPr lang="en-IN" dirty="0"/>
              <a:t> S. Shen et al., “Passive Sensing for Mental Health Monitoring Using Machine Learning,” </a:t>
            </a:r>
            <a:r>
              <a:rPr lang="en-IN" i="1" dirty="0"/>
              <a:t>Journal of Medical Internet Research</a:t>
            </a:r>
            <a:r>
              <a:rPr lang="en-IN" dirty="0"/>
              <a:t>, vol. 13, 2025.</a:t>
            </a:r>
          </a:p>
          <a:p>
            <a:r>
              <a:rPr lang="en-IN" b="1" dirty="0"/>
              <a:t>[5]</a:t>
            </a:r>
            <a:r>
              <a:rPr lang="en-IN" dirty="0"/>
              <a:t> T. Chen and C. </a:t>
            </a:r>
            <a:r>
              <a:rPr lang="en-IN" dirty="0" err="1"/>
              <a:t>Guestrin</a:t>
            </a:r>
            <a:r>
              <a:rPr lang="en-IN" dirty="0"/>
              <a:t>, “</a:t>
            </a:r>
            <a:r>
              <a:rPr lang="en-IN" dirty="0" err="1"/>
              <a:t>XGBoost</a:t>
            </a:r>
            <a:r>
              <a:rPr lang="en-IN" dirty="0"/>
              <a:t>: A scalable tree boosting system,” </a:t>
            </a:r>
            <a:r>
              <a:rPr lang="en-IN" i="1" dirty="0"/>
              <a:t>Proceedings of the 22nd ACM SIGKDD</a:t>
            </a:r>
            <a:r>
              <a:rPr lang="en-IN" dirty="0"/>
              <a:t>, 2016.</a:t>
            </a:r>
          </a:p>
          <a:p>
            <a:r>
              <a:rPr lang="en-IN" b="1" dirty="0"/>
              <a:t>[6]</a:t>
            </a:r>
            <a:r>
              <a:rPr lang="en-IN" dirty="0"/>
              <a:t> </a:t>
            </a:r>
            <a:r>
              <a:rPr lang="en-IN" i="1" dirty="0" err="1"/>
              <a:t>SignalWell</a:t>
            </a:r>
            <a:r>
              <a:rPr lang="en-IN" i="1" dirty="0"/>
              <a:t> AI Project Specification Document &amp; Poster</a:t>
            </a:r>
            <a:r>
              <a:rPr lang="en-IN" dirty="0"/>
              <a:t>, SRIHER(DU), 2026.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55D0B-1A0B-E4FC-BC98-2528426F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8E231-67E6-48CB-8EE0-ADDA0D1ECD20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823915-7CCB-186D-082D-1477796D5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60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02BE7-F083-4065-A4C4-65B164BF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14" y="2574771"/>
            <a:ext cx="6060818" cy="1708458"/>
          </a:xfrm>
        </p:spPr>
        <p:txBody>
          <a:bodyPr>
            <a:noAutofit/>
          </a:bodyPr>
          <a:lstStyle/>
          <a:p>
            <a:r>
              <a:rPr lang="en-IN" sz="8800" dirty="0">
                <a:latin typeface="+mn-lt"/>
                <a:ea typeface="Segoe UI Emoji" panose="020B0502040204020203" pitchFamily="34" charset="0"/>
                <a:cs typeface="Segoe UI" panose="020B0502040204020203" pitchFamily="34" charset="0"/>
              </a:rPr>
              <a:t>Thank you!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7F099C-B918-5338-3562-AF83EF663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D09DE-649E-4D42-99E4-A8193990E34E}" type="datetime1">
              <a:rPr lang="en-IN" smtClean="0"/>
              <a:t>22-10-2026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729FE-C92D-3346-A285-80175C7E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47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1295</Words>
  <Application>Microsoft Office PowerPoint</Application>
  <PresentationFormat>Widescreen</PresentationFormat>
  <Paragraphs>149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Quattrocento Sans</vt:lpstr>
      <vt:lpstr>Segoe UI</vt:lpstr>
      <vt:lpstr>Segoe UI Emoji</vt:lpstr>
      <vt:lpstr>Segoe UI Symbol</vt:lpstr>
      <vt:lpstr>Times New Roman</vt:lpstr>
      <vt:lpstr>Office Theme</vt:lpstr>
      <vt:lpstr>Research Productivity Tools (ADA23IN101) FINAL REVIEW</vt:lpstr>
      <vt:lpstr>Contents</vt:lpstr>
      <vt:lpstr>Introduction</vt:lpstr>
      <vt:lpstr>Problem Statement</vt:lpstr>
      <vt:lpstr>Literature Survey</vt:lpstr>
      <vt:lpstr>Objective</vt:lpstr>
      <vt:lpstr>Workflow Diagram</vt:lpstr>
      <vt:lpstr>Methodology</vt:lpstr>
      <vt:lpstr>Tools and Techniques</vt:lpstr>
      <vt:lpstr>Implementation</vt:lpstr>
      <vt:lpstr>Result Analysis</vt:lpstr>
      <vt:lpstr>PowerPoint Presentation</vt:lpstr>
      <vt:lpstr>PowerPoint Presentation</vt:lpstr>
      <vt:lpstr>Timeline</vt:lpstr>
      <vt:lpstr>Conclusion</vt:lpstr>
      <vt:lpstr>Future Scope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1 (ADA23IN101) FINAL REVIEW</dc:title>
  <dc:creator>Nikilesh</dc:creator>
  <cp:lastModifiedBy>GIGABYTE</cp:lastModifiedBy>
  <cp:revision>43</cp:revision>
  <dcterms:created xsi:type="dcterms:W3CDTF">2025-04-25T03:07:44Z</dcterms:created>
  <dcterms:modified xsi:type="dcterms:W3CDTF">2026-10-22T03:56:55Z</dcterms:modified>
</cp:coreProperties>
</file>